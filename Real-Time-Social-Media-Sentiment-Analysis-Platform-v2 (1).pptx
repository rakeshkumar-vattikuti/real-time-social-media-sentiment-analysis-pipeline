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DM Sans Bold" panose="020B0604020202020204" charset="0"/>
      <p:regular r:id="rId23"/>
    </p:embeddedFont>
    <p:embeddedFont>
      <p:font typeface="DM Sans" panose="020B0604020202020204" charset="0"/>
      <p:regular r:id="rId24"/>
    </p:embeddedFont>
    <p:embeddedFont>
      <p:font typeface="Libre Baskerville Bold" panose="020B0604020202020204" charset="0"/>
      <p:regular r:id="rId25"/>
    </p:embeddedFont>
    <p:embeddedFont>
      <p:font typeface="Libre Baskerville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352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5" Type="http://schemas.openxmlformats.org/officeDocument/2006/relationships/image" Target="../media/image7.png"/><Relationship Id="rId10" Type="http://schemas.openxmlformats.org/officeDocument/2006/relationships/image" Target="../media/image-8-8.svg"/><Relationship Id="rId4" Type="http://schemas.openxmlformats.org/officeDocument/2006/relationships/image" Target="../media/image-8-2.sv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6-6.svg"/><Relationship Id="rId13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-16-9.svg"/><Relationship Id="rId5" Type="http://schemas.openxmlformats.org/officeDocument/2006/relationships/image" Target="../media/image-16-3.sv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Relationship Id="rId14" Type="http://schemas.openxmlformats.org/officeDocument/2006/relationships/image" Target="../media/image-16-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302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Social Media Sentiment Analysis Platform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177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real-time data pipeline built using Azure Event Hubs, ADLS Gen2, Databricks, Delta Lake, dbt, Airflow, Pytest and Slack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06093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Meet the Team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1475" y="414397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433933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Yash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347359" y="414397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433933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Adarsh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033244" y="414397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433933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Shaista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501898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521434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Nawaz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4347359" y="501898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2716" y="521434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Sneha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033244" y="5018980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8600" y="521434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Rakesh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40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101923"/>
            <a:ext cx="1086874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564283"/>
            <a:ext cx="3542914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135" y="1733947"/>
            <a:ext cx="32035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Large Volumes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1135" y="2041227"/>
            <a:ext cx="32035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volumes of social media data from multiple datasets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4341" y="1564283"/>
            <a:ext cx="3542914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4001" y="1733947"/>
            <a:ext cx="32035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Issues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94001" y="2041227"/>
            <a:ext cx="32035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data contains missing values, duplicates, and inconsistencies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87207" y="1564283"/>
            <a:ext cx="3543013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867" y="1733947"/>
            <a:ext cx="3203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 Difficulty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56867" y="2041227"/>
            <a:ext cx="3203693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Difficult to analyze sentiment, engagement, users, and trends directly from raw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1475" y="2823865"/>
            <a:ext cx="1086874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1475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3523059"/>
            <a:ext cx="354291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636466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Azure Event Hub &amp; ADLS Gen2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3943747"/>
            <a:ext cx="354291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incoming social-media events and store the data in a centralized data lake.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24341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4341" y="3523059"/>
            <a:ext cx="354291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4324341" y="3636466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Databricks Medallion Architecture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324341" y="3943747"/>
            <a:ext cx="354291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incoming data through Bronze → Silver → Gold layers using Databricks and PySpark.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87207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87207" y="3523059"/>
            <a:ext cx="35430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07" y="3636466"/>
            <a:ext cx="354301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Analytics &amp; Data Quality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987207" y="3943747"/>
            <a:ext cx="354301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clean Gold data for dashboards, with Pytest validation, Airflow orchestration, and Slack failure alerts.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1475" y="4886127"/>
            <a:ext cx="1086874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Platform at a Glance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1475" y="5376763"/>
            <a:ext cx="26046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661475" y="6039148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Datasets ingested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416115" y="5376763"/>
            <a:ext cx="26047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3416115" y="603914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Medallion layers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170855" y="5376763"/>
            <a:ext cx="26046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4+1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6170855" y="6039148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Dimension &amp; fact tables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25495" y="5376763"/>
            <a:ext cx="26047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</a:t>
            </a:r>
            <a:endParaRPr lang="en-US" sz="3900" dirty="0"/>
          </a:p>
        </p:txBody>
      </p:sp>
      <p:sp>
        <p:nvSpPr>
          <p:cNvPr id="34" name="Text 32"/>
          <p:cNvSpPr/>
          <p:nvPr/>
        </p:nvSpPr>
        <p:spPr>
          <a:xfrm>
            <a:off x="8925495" y="603914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views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3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16335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12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Technology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Purpose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Microsoft Azure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Cloud Platform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Event Hub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Streaming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 Lake Storage Gen2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Storage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Databricks + PySpark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Processing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Unity Catalog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 Governance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Delta Lake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Storage Format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dbt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Transformation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Apache Airflow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Orchestration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Dashboards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Visualization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Pytest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12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Slack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Alerts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891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High-Level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738" y="1105595"/>
            <a:ext cx="9340120" cy="5230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25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Low-Level Design</a:t>
            </a:r>
            <a:endParaRPr lang="en-US" sz="19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537" y="1113929"/>
            <a:ext cx="7820620" cy="52137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07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Bronze Layer — Raw Data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64841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26020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Source &amp; Real-Time Ingestion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668885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social-media datasets are used as source data, with Azure Event Hubs handling incoming real-time events.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064841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26020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ADLS Gen2 &amp; Databricks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668885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stored in ADLS Gen2, and Databricks Structured Streaming reads the incoming data for Bronze processing.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60515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15587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Bronze Delta Tables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56455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Incoming data is stored in Delta tables while preserving the source structure for further processing.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960515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15587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Schema, Metadata &amp; Time Travel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564559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evaluation and ingestion metadata support tracking, while Delta Time Travel helps access previous data versions.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04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Silver Layer — Cleaned Data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23504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Silver data becomes the single source of truth for all downstream Gold transformations.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56" y="2556470"/>
            <a:ext cx="6830048" cy="3125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31666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Validation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315619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708354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Null Handling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65958" y="4816621"/>
            <a:ext cx="1282298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Duplicate Removal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18163" y="2169815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Happens in Silver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018163" y="2622947"/>
            <a:ext cx="3518308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Duplicate Removal: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Remove duplicate records carried over from the Bronze layer.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Null Handling: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defined cleansing rules to address missing values systematically.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Standardization: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Normalize text, timestamps, identifiers and formats for consistency.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Validation: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validation and business rules to produce reliable Silver tables ready for Gold promotion.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94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Gold Layer — Analytics Ready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48867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Gold layer transforms cleaned Silver data into business-ready analytical models for reporting and dashboarding.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89931"/>
            <a:ext cx="465126" cy="465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83966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Analytical Models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1475" y="3084513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dbt models are created for sentiment, trends, tweets, engagement, and user metadata analysis.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0244" y="1989931"/>
            <a:ext cx="465126" cy="465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0244" y="2683966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Aggregations &amp; KPIs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10244" y="3084513"/>
            <a:ext cx="531997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Calculates metrics such as tweet count, sentiment distribution, engagement, impressions, and topic performance.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36653"/>
            <a:ext cx="465126" cy="465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030688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Ready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61475" y="5431234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models provide structured data for creating AI-assisted dashboards in Databricks.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0244" y="4336653"/>
            <a:ext cx="465126" cy="4651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0244" y="5030688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Insights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10244" y="5431234"/>
            <a:ext cx="531997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users understand sentiment, engagement, trends, country-wise activity, and user insights for easier decision-making.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393"/>
            <a:ext cx="10868745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 Schema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131" y="1123156"/>
            <a:ext cx="7743334" cy="5162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472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Analytics Dashboards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32806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Sentiment &amp; Engagement Analytics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70684"/>
          <a:ext cx="9143771" cy="914400"/>
        </p:xfrm>
        <a:graphic>
          <a:graphicData uri="http://schemas.openxmlformats.org/drawingml/2006/table">
            <a:tbl>
              <a:tblPr/>
              <a:tblGrid>
                <a:gridCol w="3586686"/>
                <a:gridCol w="3695373"/>
                <a:gridCol w="3586686"/>
              </a:tblGrid>
              <a:tr h="2489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Sentiment Trends</a:t>
                      </a:r>
                      <a:endParaRPr lang="en-US" sz="18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Top Topics by Engagement</a:t>
                      </a:r>
                      <a:endParaRPr lang="en-US" sz="18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Sentiment Mix by Avg Score</a:t>
                      </a:r>
                      <a:endParaRPr lang="en-US" sz="18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30" y="3388122"/>
            <a:ext cx="3195260" cy="1696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32" y="3388122"/>
            <a:ext cx="3313030" cy="175895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476" y="3388122"/>
            <a:ext cx="3204388" cy="1701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3231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 &amp; Activity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2531170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Ranking by Tweet Vol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21720"/>
            <a:ext cx="3277709" cy="1740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06691" y="2531170"/>
            <a:ext cx="4000499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Activity Metrics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91" y="3121720"/>
            <a:ext cx="3390914" cy="180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5112" y="2531170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Trending Activity Over Time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112" y="3121720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419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Tweet &amp; Engagement Insights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590205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Tweet Reach &amp; Performance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80755"/>
            <a:ext cx="3277709" cy="1740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06691" y="2590205"/>
            <a:ext cx="4000499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Tweets by Impressions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91" y="3180755"/>
            <a:ext cx="3390914" cy="180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5112" y="2590205"/>
            <a:ext cx="3887293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Breakdown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112" y="3180755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0199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Follower Insights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628007"/>
            <a:ext cx="38872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vs Unverified Users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43052"/>
            <a:ext cx="3277709" cy="1740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06691" y="2628007"/>
            <a:ext cx="40004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User Performance by Country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91" y="3143052"/>
            <a:ext cx="3390914" cy="180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5112" y="2628007"/>
            <a:ext cx="38872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and Followers by Country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112" y="3143052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4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Bronze, silver ,Gold Layer — pytest Checks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607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pytest suite (test_bronze), (test_silver), (test_gold), run on every Bronze Delta table before data is promoted to Silver and run on every Silver Delta table before data is promoted to Gold.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23542"/>
            <a:ext cx="10868745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Read the Files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Load and verify the source datasets from ADLS Gen2.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Validation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 that the required Bronze, Silver and Gold tables are created successfully.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Row Count Check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Verify that tables contain records after ingestion and transformation.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Required Columns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Validate that all expected columns are present in each layer.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Duplicate Check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Identify and verify duplicate records, especially during Silver-layer cleansing.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Metadata Validation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 important metadata and audit columns used during processing.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Null Check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Validate required fields and ensure missing values are handled correctly.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Type Validation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 that columns have the expected data types after transformation.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80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Testing &amp; Validation — Data Quality Checks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5736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layer ships with its own pytest notebook (test_bronze, test_silver, test_gold) — 8 automated checks each, run before data is promoted downstream.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44888"/>
            <a:ext cx="3924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Bronze — Raw Ingestion Checks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17367"/>
            <a:ext cx="331501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existence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count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Required column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checks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43996" y="3544888"/>
            <a:ext cx="38124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Silver — Clean Data Checks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43996" y="4017367"/>
            <a:ext cx="320290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and row count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Required column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 validation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14402" y="3544888"/>
            <a:ext cx="40379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Gold — Business Layer Checks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14402" y="4017367"/>
            <a:ext cx="34283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 and dimension table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count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relationship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 validation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2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Monitoring &amp; Alerts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55056"/>
            <a:ext cx="324883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822873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Event Hubs, Databricks and Airflow pipeline activity.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8812" y="2682478"/>
            <a:ext cx="282766" cy="282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1284" y="2355056"/>
            <a:ext cx="324893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Execution Logs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81284" y="2822873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 job status, errors and execution details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3661" y="3006229"/>
            <a:ext cx="282766" cy="2827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1284" y="4398863"/>
            <a:ext cx="324893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Check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81284" y="4866680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Pytest validates data across Bronze, Silver and Gold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19918" y="4861123"/>
            <a:ext cx="282766" cy="2827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475" y="4398863"/>
            <a:ext cx="324883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Failure Alerts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61475" y="4866680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Slack notifications for pipeline failures</a:t>
            </a:r>
            <a:endParaRPr lang="en-US" sz="14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5070" y="4537373"/>
            <a:ext cx="282766" cy="2827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5324"/>
            <a:ext cx="10868745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Slack Integration:</a:t>
            </a: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Azure Databricks sends notifications when pipeline jobs </a:t>
            </a:r>
            <a:r>
              <a:rPr lang="en-US" sz="1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start, complete successfully, or fail</a:t>
            </a: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helping the team monitor job execution and quickly respond to pipeline failures.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24348"/>
            <a:ext cx="5203794" cy="29224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2724348"/>
            <a:ext cx="5203794" cy="29257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894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Orchestration — Apache Airflow</a:t>
            </a:r>
            <a:endParaRPr lang="en-US" sz="1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9798"/>
            <a:ext cx="9341311" cy="52312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3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Business Impact &amp; Outcomes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12368"/>
            <a:ext cx="2575357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07730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Faster Insights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16412"/>
            <a:ext cx="2184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social media sentiment and trends efficiently.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Better Data Quality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21195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and validated data supports reliable analysis.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Topic Insights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sentiment patterns across users and topics.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Efficiency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50121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pipelines reduce manual data processing.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963</Words>
  <Application>Microsoft Office PowerPoint</Application>
  <PresentationFormat>Widescreen</PresentationFormat>
  <Paragraphs>182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DM Sans Bold</vt:lpstr>
      <vt:lpstr>DM Sans</vt:lpstr>
      <vt:lpstr>Libre Baskerville Bold</vt:lpstr>
      <vt:lpstr>Arial</vt:lpstr>
      <vt:lpstr>Libre Baskerville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Mohammed Nawaz B</dc:creator>
  <cp:lastModifiedBy>admin</cp:lastModifiedBy>
  <cp:revision>3</cp:revision>
  <dcterms:created xsi:type="dcterms:W3CDTF">2026-09-13T15:16:26Z</dcterms:created>
  <dcterms:modified xsi:type="dcterms:W3CDTF">2026-09-14T17:26:17Z</dcterms:modified>
</cp:coreProperties>
</file>